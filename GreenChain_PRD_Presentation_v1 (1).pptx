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
5K farmers</c:v>
                  </c:pt>
                  <c:pt idx="1">
                    <c:v>Year 2
12K farmers</c:v>
                  </c:pt>
                  <c:pt idx="2">
                    <c:v>Year 3
25K farmers</c:v>
                  </c:pt>
                  <c:pt idx="3">
                    <c:v>Year 5
100K farmers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</c:v>
                </c:pt>
                <c:pt idx="1">
                  <c:v>1.4</c:v>
                </c:pt>
                <c:pt idx="2">
                  <c:v>3.75</c:v>
                </c:pt>
                <c:pt idx="3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 (₹ Cr)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</c:v>
                </c:pt>
                <c:pt idx="1">
                  <c:v>1.35</c:v>
                </c:pt>
                <c:pt idx="2">
                  <c:v>2.05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5A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A3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1488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GREENCHAIN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2880" y="3200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March 2026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9040" y="822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Integrated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Climate-Fintech Platform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749040" y="1920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carbon credits · agri-produce marketplace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compliance · contract farming · INR-native settlement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farmer-first ecosystem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49040" y="2834640"/>
            <a:ext cx="1188720" cy="777240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2852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49040" y="3218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CAGR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47488" y="2834640"/>
            <a:ext cx="1188720" cy="777240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2852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47488" y="3218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45936" y="2834640"/>
            <a:ext cx="1188720" cy="777240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45936" y="2852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8.5/10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45936" y="3218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644384" y="2834640"/>
            <a:ext cx="1188720" cy="777240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44384" y="2852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644384" y="3218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749040" y="3840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125M Farmers · 740+ Corporates · NGOs · Government · International Buyers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7490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Farmer-First  ·  INR-Native  ·  Blockchain as Proof Only  ·  COP Compliant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Rural Climate Finance Gap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GreenChain exists — four structural failures in one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993392" cy="28803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64592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2194560"/>
            <a:ext cx="199339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" y="2286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125M Smallholders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zero from their carbon-positive land practices. No INR-native monetisation pathway exists for smallholder farmers practicing sustainable agriculture.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32888" y="1508760"/>
            <a:ext cx="1993392" cy="28803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64592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32888" y="2194560"/>
            <a:ext cx="199339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87752" y="2286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740+ Corporates Mandated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24328" y="269748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CCTS compliance period started 2025. 740 industrial entities have binding emission targets but no reliable source of verified, COP-compliant domestic agri credits.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54296" y="1508760"/>
            <a:ext cx="1993392" cy="28803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645920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654296" y="2194560"/>
            <a:ext cx="1993392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09160" y="2286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Stack Anywhere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45736" y="269748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MRV, agri marketplace, ESG reporting, and contract farming all exist separately in India. No platform combines them in a single farmer-first ecosystem.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75704" y="1508760"/>
            <a:ext cx="1993392" cy="28803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45920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775704" y="2194560"/>
            <a:ext cx="1993392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30568" y="22860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Exclusion from Carbon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867144" y="2697480"/>
            <a:ext cx="18105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carbon platforms price in USD. Farmers face FX volatility and settlement risk. No INR-native carbon credit settlement infrastructure exists in India.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 &amp; Design Principles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83210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813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First  →  Farmer First  →  Blockchain as Proof Only  →  COP Compliant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2651760" cy="10972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084832"/>
            <a:ext cx="64008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579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INR-Native Settlement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farmer payments in INR via UPI/NEFT. No crypto, no FX risk. Credits are INR financial assets, not blockchain tokens. Farmer never exposed to foreign exchange.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2084832"/>
            <a:ext cx="2651760" cy="10972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08483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1579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Farmer-First FRPS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45059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Reliability Point System governs platform access, commission rates, market eligibility, and contract priority — rewarding verifiably good actors, not just big landowners.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2084832"/>
            <a:ext cx="2651760" cy="10972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084832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579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= Proof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45059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L2 stores only 4 fields: credit_id, CO₂e, vintage year, farmer wallet. Zero trading logic, zero token economy on-chain. Fully portable off-chain if regulation changes.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273552"/>
            <a:ext cx="2651760" cy="10972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273552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467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Compliance by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63931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Unbroken FK chain: land_plots → crop_cycles → carbon_calculations → carbon_credits → purchase_credit_map. No orphan records. No ghost credits. Audit-log hash chain.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273552"/>
            <a:ext cx="2651760" cy="10972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273552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3467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63931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 + Redis + S3. Right database for each domain. Single-instance in prototype, independently scalable in production. No architectural dead ends.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3273552"/>
            <a:ext cx="2651760" cy="10972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3273552"/>
            <a:ext cx="64008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3467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639312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 data entry offline via Firestore. Auto-syncs on reconnection. Farmer onboarding works in zero-connectivity deep rural environments. Critical transactions server-confirmed.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Integrated Ecosystem Layers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an independent revenue stream while reinforcing all others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08760"/>
            <a:ext cx="2029968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Registry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+ LTCC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150876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508760"/>
            <a:ext cx="20299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7752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TPC + BRSR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150876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508760"/>
            <a:ext cx="2029968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NGO/Govt Audit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Layer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75704" y="150876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5704" y="1508760"/>
            <a:ext cx="202996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1517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Agri-Produce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0568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EcoTrust Nudge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15468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154680"/>
            <a:ext cx="2029968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Layer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" y="3867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Funding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32888" y="315468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32888" y="3154680"/>
            <a:ext cx="2029968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87752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87752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Farming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87752" y="3867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Marketplace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54296" y="315468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54296" y="3154680"/>
            <a:ext cx="20299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Market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09160" y="3867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+ Forex Engine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75704" y="3154680"/>
            <a:ext cx="2029968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75704" y="3154680"/>
            <a:ext cx="2029968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0568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30568" y="3502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Ads/Services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30568" y="3867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· LTCC · TPC — INR-priced, NGO-verified, NDVI-backed, CCTS-eligible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743200" cy="299923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27432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Carbon Credit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soil carbon sequestration per crop cycle. Issued on MRV completion. Settled immediately to farmer via UPI on corporate purchase. Eligible for CCTS offset mechanism. Multiple per year possible.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133088"/>
            <a:ext cx="2743200" cy="3474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133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₹900–1,500 / tonne CO₂e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481328"/>
            <a:ext cx="2743200" cy="299923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481328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81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Carbon Credit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267712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land carbon vault (3–7 years). 2–3× STCC price premium. Strictly opt-in. Advance partial payment on enrollment. LTCC Land Carbon Vault can be structured as SEBI green credit instrument.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4133088"/>
            <a:ext cx="2743200" cy="3474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133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₹2,000–4,500 / tonne CO₂e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481328"/>
            <a:ext cx="2743200" cy="299923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481328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481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TPC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Plantation Credit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267712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per verified planted tree. NGO geo-tags and counts trees on field visit. Corporate TPC + BRSR supply chain tree planting dashboard. FRPS +15 for tree planting actions verified by NGO.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4133088"/>
            <a:ext cx="2743200" cy="3474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133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₹150–300 / tree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572000"/>
            <a:ext cx="8321040" cy="219456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720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ID:  GC-IN-WB-PLT239-2026-STCC-000001  (State · Plot · Vintage Year · Type · Sequence Number)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Measurement, Reporting &amp; Verification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Satellite-first · IPCC Tier-2 · Multi-source NDVI · Confidence-scored output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84248" y="2423160"/>
            <a:ext cx="201168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1572768" cy="26517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1572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Geo-Proof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63347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uploads GPS-tagged photos via PWA. On-device AI validates EXIF authenticity and GPS accuracy. Offline queued in Firestore, synced on connectivity.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66744" y="2423160"/>
            <a:ext cx="201168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1508760"/>
            <a:ext cx="1572768" cy="26517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70048" y="1572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93976" y="2084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Fetch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67128" y="263347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pulls Sentinel-2 satellite imagery. Landsat-9 + Bhuvan/ISRO as cloud-gap fallback. ndvi_confidence_score recorded on every calculation.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49240" y="2423160"/>
            <a:ext cx="201168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76472" y="1508760"/>
            <a:ext cx="1572768" cy="26517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52544" y="1572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76472" y="2084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Tier-2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9624" y="263347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= f(NDVI avg, plot area, soil type, crop cycle, season, counterfactual baseline). methodology + mrv_version fields stored — immutable scientific record.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31736" y="2423160"/>
            <a:ext cx="201168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1508760"/>
            <a:ext cx="1572768" cy="26517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572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084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263347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reviews geo-proof + NDVI on dashboard. Random spot-checks for high-FRPS farmers. Physical field visit required for LTCC and disputed plots. FRPS +20 on verify.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41464" y="1508760"/>
            <a:ext cx="1572768" cy="26517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17536" y="157276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41464" y="20848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14616" y="263347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credit_id generated in GC-IN-{STATE}-{PLOT}-{YEAR}-{TYPE}-{SEQ} format. Status = AVAILABLE. Listed on marketplace. FRPS updated. Blockchain queue populated.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4251960"/>
            <a:ext cx="8321040" cy="530352"/>
          </a:xfrm>
          <a:prstGeom prst="rect">
            <a:avLst/>
          </a:prstGeom>
          <a:solidFill>
            <a:srgbClr val="1A352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270248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Sources: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(primary)  ·  Landsat-9 (backup)  ·  Bhuvan/ISRO (India-specific)    </a:t>
            </a:r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Anti-Gaming: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validates EXIF + GPS. Duplicate polygon detection at DB level (SHA-256 plot_hash). Random NGO spot-checks on GOLD/PLATINUM farmers.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Reliability Point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engine gating access to all platform layers simultaneously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114800" cy="309067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36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4114800" cy="310896"/>
          </a:xfrm>
          <a:prstGeom prst="rect">
            <a:avLst/>
          </a:prstGeom>
          <a:solidFill>
            <a:srgbClr val="162B1E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Geo-tagged proof upload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874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03704"/>
            <a:ext cx="4114800" cy="310896"/>
          </a:xfrm>
          <a:prstGeom prst="rect">
            <a:avLst/>
          </a:prstGeom>
          <a:solidFill>
            <a:srgbClr val="0D1F15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037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farming practice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2037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4114800" cy="310896"/>
          </a:xfrm>
          <a:prstGeom prst="rect">
            <a:avLst/>
          </a:prstGeom>
          <a:solidFill>
            <a:srgbClr val="162B1E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32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plot verification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5328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62072"/>
            <a:ext cx="4114800" cy="310896"/>
          </a:xfrm>
          <a:prstGeom prst="rect">
            <a:avLst/>
          </a:prstGeom>
          <a:solidFill>
            <a:srgbClr val="0D1F15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62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NDVI score (&gt;0.5)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8620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4114800" cy="310896"/>
          </a:xfrm>
          <a:prstGeom prst="rect">
            <a:avLst/>
          </a:prstGeom>
          <a:solidFill>
            <a:srgbClr val="162B1E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912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sold via platform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1912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520440"/>
            <a:ext cx="4114800" cy="310896"/>
          </a:xfrm>
          <a:prstGeom prst="rect">
            <a:avLst/>
          </a:prstGeom>
          <a:solidFill>
            <a:srgbClr val="0D1F15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20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violations this 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520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849624"/>
            <a:ext cx="4114800" cy="310896"/>
          </a:xfrm>
          <a:prstGeom prst="rect">
            <a:avLst/>
          </a:prstGeom>
          <a:solidFill>
            <a:srgbClr val="162B1E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496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submission &gt;30 days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849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178808"/>
            <a:ext cx="4114800" cy="310896"/>
          </a:xfrm>
          <a:prstGeom prst="rect">
            <a:avLst/>
          </a:prstGeom>
          <a:solidFill>
            <a:srgbClr val="0D1F15"/>
          </a:solidFill>
          <a:ln w="12700">
            <a:solidFill>
              <a:srgbClr val="0D1F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78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raised by NGO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4178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1481328"/>
            <a:ext cx="3977640" cy="80467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48132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536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64608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800–1,000  ·  Commission: 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20299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· Priority listing · Max LTCC eligibility · Lowest commission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359152"/>
            <a:ext cx="3977640" cy="80467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359152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4140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64608" y="2706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600–799  ·  Commission: 7%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4608" y="29077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 access · Contract farming · LTCC eligible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236976"/>
            <a:ext cx="3977640" cy="80467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236976"/>
            <a:ext cx="64008" cy="8046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291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64608" y="3584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400–599  ·  Commission: 10%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64608" y="37856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+ produce marketplace · Basic contract access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4114800"/>
            <a:ext cx="3977640" cy="80467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4114800"/>
            <a:ext cx="64008" cy="80467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169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864608" y="4462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0–399  ·  Commission: 12%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64608" y="46634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issuance only · Proof submission · No priority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 +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ESG Engine &amp; FCAE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BRSR-aligned dashboard · Fair Credit Allocation Engine · TPC issuance · Scope 3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069080" cy="33375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36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ESG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with GSTIN / CIN verification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CO₂e target setting aligned with BRSR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browse by vintage year, state, credit type (STCC/LTCC/TPC)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Core ESG dashboard — credits purchased, retired, balance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generation with credit_id + blockchain tx_hash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TPC tree plantation credit issuance and ESG reporting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3342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upstream agri supply chain emissions data (Phase 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481328"/>
            <a:ext cx="4069080" cy="33375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536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FCAE — Fair Credit Allocation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round-robin system ensuring no single farmer dominates a corporate bulk order: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25856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258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10912" y="2258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AVAILABLE credits from Postgres (SELECT FOR UPDATE)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61518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10912" y="26151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farmer_id, read fcae:weight from Redis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71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10912" y="2971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ascending — lowest weight = most eligible first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32841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10912" y="3328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any single farmer at 15% of total order size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8503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85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10912" y="36850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SETNX fcae:lock:{credit_id} — 5 min TTL prevent race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40416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10912" y="4041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→ mark SOLD, distribute to farmers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39826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398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10912" y="43982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→ release all locks → credits return to AVAILABLE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tables · 7 domains · PostgreSQL + TimescaleDB + Redis + S3 + Polygon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61264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1600200" cy="612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16.x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84832" y="1536192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farmer_profiles · company_profiles · land_plots · geo_tagged_media · crop_cycles · carbon_calculations · carbon_credits (partitioned by vintage_year) · credit_listings · company_purchases · purchase_credit_map · frps_logs · farmer_earnings_ledger (partitioned monthly) · settlements · contracts · contract_reports · audit_logs · donations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8321040" cy="61264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39696"/>
            <a:ext cx="1600200" cy="612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854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4597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84832" y="2212848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satellite_ndvi — hypertable · 1 month chunks · 7× compression after 90 days · continuous aggregates (ndvi_monthly_avg)    sensor_readings — hypertable · 1 week chunks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816352"/>
            <a:ext cx="8321040" cy="61264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16352"/>
            <a:ext cx="1600200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62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7.x Cluster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136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Queues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84832" y="2889504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FCAE allocation locks (SETNX) · round-robin fairness weights · session store · MRV / certificate / settlement / blockchain job queues · geo radius search (Sorted Set) · API rate limiting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493008"/>
            <a:ext cx="8321040" cy="61264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93008"/>
            <a:ext cx="1600200" cy="612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38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/ S3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8130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84832" y="3566160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prana-proofs/ (7 yr COP retention) · prana-certificates/ (10 yr) · prana-contracts/ (10 yr) · prana-ngo-reports/ (7 yr) · prana-public/    S3 keys only in DB — never full URLs — pre-signed URLs 1 hr expiry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4169664"/>
            <a:ext cx="8321040" cy="61264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169664"/>
            <a:ext cx="1600200" cy="6126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153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L2 (EVM)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4897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Only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84832" y="4242816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fields on-chain: credit_id · co2e_value · vintage_year · farmer_wallet_address    blockchain_tx_hash stored back on carbon_credits.  Hardhat + ethers.js + Amoy testnet → Mainnet (Phase 3)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Chain:  land_plots → crop_cycles → carbon_calculations → carbon_credits → purchase_credit_map  (every hop is a FK · no orphan records · no ghost credits)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Table Specifications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ACID-critical tables with COP compliance rules embedded directly in the schema DDL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743200" cy="340156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274320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carbon_credits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920240"/>
            <a:ext cx="1645920" cy="23774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20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ACID 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VARCHAR(40) PK · partitioned by vintage_year · composite index on (status, engine_type, last_allocated_at) WHERE status='AVAILABLE'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6791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FOR UPDATE before every status change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118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→ RESERVED → SOLD → RETIRED (irreversible)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5570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blockchain_tx_hash set post-Polygon minting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9959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Double-spend prevented by UNIQUE on purchase_credit_map.credit_id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1481328"/>
            <a:ext cx="2743200" cy="340156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481328"/>
            <a:ext cx="274320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481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22192" y="1920240"/>
            <a:ext cx="1645920" cy="23774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1920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IMMUTABLE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BIGSERIAL PK · append-only · SHA-256 hash chain · REVOKE UPDATE, DELETE from all roles including app_user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64992" y="26791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prev_log_hash chains every row — any gap is detectable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64992" y="3118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actor_id soft-ref (no FK preserves immutability)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64992" y="35570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COP, SEBI BRSR, and government audit requirements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64992" y="39959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 (entity_type, entity_id) for compliance trace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1481328"/>
            <a:ext cx="2743200" cy="340156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35624" y="1481328"/>
            <a:ext cx="27432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1481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farmer_earnings_ledger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84264" y="1920240"/>
            <a:ext cx="1645920" cy="23774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19202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APPEND-ONLY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27064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created_at (monthly) · financial audit trail · corrections by REVERSAL rows only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27064" y="26791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UPDATE or DELETE — immutable financial record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27064" y="31181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commission_pct, gross_amount, net_amount per credit sold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27064" y="35570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settlement_status: PENDING → IN_SETTLEMENT → SETTLED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27064" y="39959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settlements paid via UPI/NEFT payout channel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937760"/>
            <a:ext cx="8321040" cy="182880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93776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Roles:  app_user (no DELETE ever)  ·  audit_writer (INSERT audit_logs only)  ·  mrv_worker  ·  blockchain_worker  ·  readonly  ·  dba (never in application code)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Prototype to Scale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₹0/month prototype · ₹8–15K/month production · Kubernetes at 500K+ farmers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46304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196596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463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463040"/>
            <a:ext cx="192024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463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Service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97880" y="1463040"/>
            <a:ext cx="288036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46304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737360"/>
            <a:ext cx="14630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173736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1737360"/>
            <a:ext cx="19659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1737360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TypeScript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1737360"/>
            <a:ext cx="19202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6784" y="1737360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PWA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97880" y="1737360"/>
            <a:ext cx="28803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2744" y="1737360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free / Firebase Hosting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1993392"/>
            <a:ext cx="14630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199339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1993392"/>
            <a:ext cx="19659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75104" y="1993392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31920" y="1993392"/>
            <a:ext cx="19202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86784" y="1993392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+ JWT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97880" y="1993392"/>
            <a:ext cx="28803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52744" y="1993392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(50K MAU)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2249424"/>
            <a:ext cx="14630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2249424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2249424"/>
            <a:ext cx="19659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75104" y="2249424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31920" y="2249424"/>
            <a:ext cx="19202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6784" y="2249424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services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97880" y="2249424"/>
            <a:ext cx="28803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52744" y="2249424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505456"/>
            <a:ext cx="14630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" y="2505456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20240" y="2505456"/>
            <a:ext cx="19659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75104" y="2505456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16.x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31920" y="2505456"/>
            <a:ext cx="19202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6784" y="2505456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(prototype)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97880" y="2505456"/>
            <a:ext cx="28803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52744" y="2505456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RDS (production)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2761488"/>
            <a:ext cx="14630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" y="276148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920240" y="2761488"/>
            <a:ext cx="19659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75104" y="2761488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31920" y="2761488"/>
            <a:ext cx="19202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86784" y="2761488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extension on same instance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97880" y="2761488"/>
            <a:ext cx="28803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52744" y="2761488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server at Phase 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" y="3017520"/>
            <a:ext cx="14630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" y="301752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920240" y="3017520"/>
            <a:ext cx="19659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75104" y="3017520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(Firebase)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931920" y="3017520"/>
            <a:ext cx="19202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86784" y="3017520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 entry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897880" y="3017520"/>
            <a:ext cx="28803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52744" y="3017520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PWA auto-sync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3273552"/>
            <a:ext cx="14630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6344" y="327355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Queue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920240" y="3273552"/>
            <a:ext cx="19659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75104" y="3273552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7.x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931920" y="3273552"/>
            <a:ext cx="19202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86784" y="3273552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FCAE + BullMQ workers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897880" y="3273552"/>
            <a:ext cx="28803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52744" y="3273552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(proto) · Cluster (prod)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1480" y="3529584"/>
            <a:ext cx="14630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" y="3529584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920240" y="3529584"/>
            <a:ext cx="19659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75104" y="3529584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931920" y="3529584"/>
            <a:ext cx="19202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86784" y="3529584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 free tier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897880" y="3529584"/>
            <a:ext cx="28803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52744" y="3529584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/ S3 (production)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1480" y="3785616"/>
            <a:ext cx="14630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6344" y="3785616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Satellite/NDVI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920240" y="3785616"/>
            <a:ext cx="19659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975104" y="3785616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931920" y="3785616"/>
            <a:ext cx="19202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86784" y="3785616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API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897880" y="3785616"/>
            <a:ext cx="28803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52744" y="3785616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research quota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4041648"/>
            <a:ext cx="14630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6344" y="404164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920240" y="4041648"/>
            <a:ext cx="19659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975104" y="4041648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931920" y="4041648"/>
            <a:ext cx="19202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86784" y="4041648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→ Live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897880" y="4041648"/>
            <a:ext cx="28803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52744" y="4041648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 / Cashfree failover (prod)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11480" y="4297680"/>
            <a:ext cx="14630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6344" y="42976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920240" y="4297680"/>
            <a:ext cx="19659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75104" y="4297680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+ Hardhat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931920" y="4297680"/>
            <a:ext cx="192024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986784" y="4297680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+ Remix IDE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897880" y="4297680"/>
            <a:ext cx="2880360" cy="246888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52744" y="4297680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Amoy testnet → Mainnet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11480" y="4553712"/>
            <a:ext cx="14630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6344" y="455371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920240" y="4553712"/>
            <a:ext cx="19659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975104" y="4553712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931920" y="4553712"/>
            <a:ext cx="192024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986784" y="4553712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Geo-polygon draw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897880" y="4553712"/>
            <a:ext cx="2880360" cy="246888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52744" y="4553712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Farming Marketplace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owners · Contractors · Escrow · Yield-share automation · FRPS-gated access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041648" cy="33375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90872" y="1481328"/>
            <a:ext cx="4041648" cy="333756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9601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SHARECROP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(land owner) and contractor split yield output by agreed percentage. Carbon credits earned by whoever actively farms the land.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9601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077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FIXED_RENT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3209544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owner receives fixed INR monthly rent. Contractor farms and earns all carbon credits and produce revenue for the season.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9601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953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OUTPUT_SHARE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4197096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receives percentage of total output value. Land owner retains carbon credit eligibility based on land management.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82312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190195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owner posts plot + skill requirements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82312" y="226771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radius search finds nearby contractors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82312" y="263347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allocation by FRPS score + skills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82312" y="299923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contract PDF generated and stored in S3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82312" y="336499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holds payment until milestone reports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82312" y="373075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SOWING / PROGRESS / HARVEST reports with GPS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82312" y="409651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Yield-share auto-calculated on HARVEST report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82312" y="4462272"/>
            <a:ext cx="3858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Dispute: NGO arbitrates, FRPS penalty applied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Settlement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· UPI/NEFT escrow · FRPS-tiered commissions · Append-only ledger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PURCHASE TRANSACTION — ACID COMPLIANT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BEGIN;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07008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FOR UPDATE on credits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48256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company_purchases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89504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35224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5224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purchase_credit_map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30752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76472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6472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credits → RESERVED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0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audit_logs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13248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1810512"/>
            <a:ext cx="786384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58968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COMMIT;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54496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0216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webhook → SOLD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95744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farmer_earnings_ledger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936992" y="2084832"/>
            <a:ext cx="45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82712" y="1810512"/>
            <a:ext cx="786384" cy="62179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82712" y="1828800"/>
            <a:ext cx="786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Redis blockchain queue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1480" y="2606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FRPS-TIERED COMMISSION STRUCTURE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2926080"/>
            <a:ext cx="8321040" cy="402336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2926080"/>
            <a:ext cx="6400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29260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(800–1,000)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37560" y="292608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114800" y="29260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access · Priority listing · LTCC eligible · Best farmer income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364992"/>
            <a:ext cx="8321040" cy="402336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3364992"/>
            <a:ext cx="6400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33649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(600–799)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337560" y="3364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114800" y="336499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 · Contract farming access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3803904"/>
            <a:ext cx="8321040" cy="402336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3803904"/>
            <a:ext cx="64008" cy="40233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8039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(400–599)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337560" y="380390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114800" y="380390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+ produce marketplace · Basic contract access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4242816"/>
            <a:ext cx="8321040" cy="402336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4242816"/>
            <a:ext cx="64008" cy="402336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42428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(0–399)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337560" y="424281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114800" y="424281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only · Restricted marketplace priority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Bridge — Proof Only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L2 · Solidity · Hardhat · ethers.js · Amoy testnet → Mainnet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438912"/>
          </a:xfrm>
          <a:prstGeom prst="rect">
            <a:avLst/>
          </a:prstGeom>
          <a:solidFill>
            <a:srgbClr val="1A352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Rule: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used ONLY as immutable proof layer. No token trading. No exchange listing. Credits are INR financial assets, not crypto. Architecture is fully portable off-chain if India's crypto regulation changes.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4023360" cy="257860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DATA (4 fields only)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credit_id  (GC-IN-WB-PLT239-2026-STCC-000001)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53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co2e_value  (NUMERIC 10.4 — exact tonnes)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56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vintage_year  (integer 2020–2100)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farmer_wallet_address  (EVM-compatible)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29968"/>
            <a:ext cx="4069080" cy="257860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MINTING 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4505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→ push to Redis queue:blockchain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worker: BLPOP queue:blockchain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32186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mintCredit(credit_id, farmer_wallet, co2e, vintage)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360273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Mainnet confirms transaction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39867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carbon_credits SET blockchain_tx_hash = $hash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43708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audit_logs with tx_hash reference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Polygon Amoy testnet (Mumbai deprecated 2024) → Polygon Mainnet (Phase 3)  ·  Dev tools: Hardhat + Remix IDE  ·  SDK: ethers.js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Journeys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· Corporate · NGO · Contractor — end-to-end 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993392" cy="340156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1993392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Farmer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8105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+ Aadhaar hash KYC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23042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land plots with geo-polygon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7980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geo-tagged proof photos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NDVI-backed credit issuance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378561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FRPS score + tier progression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42793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INR via UPI on credit sale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32888" y="1463040"/>
            <a:ext cx="1993392" cy="340156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32888" y="1463040"/>
            <a:ext cx="1993392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4630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Corporate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18105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GSTIN/CIN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23042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annual CO₂e target (BRSR)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06040" y="27980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credits by vintage/state/type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FCAE auto-allocates on purchase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06040" y="378561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 → certificates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42793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credits for ESG reporting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54296" y="1463040"/>
            <a:ext cx="1993392" cy="340156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1463040"/>
            <a:ext cx="1993392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14630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NGO/Govt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7448" y="18105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onboarding + mandate setup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27448" y="23042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plot geo-proofs on dashboard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27448" y="27980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visits for LTCC plots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27448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plots verified or disputed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27448" y="378561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compliance reports for govt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27448" y="42793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quality score for verification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75704" y="1463040"/>
            <a:ext cx="1993392" cy="340156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75704" y="1463040"/>
            <a:ext cx="199339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5704" y="14630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Contractor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8856" y="18105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skills and location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48856" y="23042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nearby plots via radius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48856" y="27980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contract via digital agreement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48856" y="3291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progress reports with GPS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48856" y="378561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yield-share via escrow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48856" y="42793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FRPS for priority access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Environment — March 2026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favourable regulatory window in India's history for this platform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651760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64008" cy="14813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83664"/>
            <a:ext cx="150876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83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 industrial entities have legally binding emission intensity targets. Compliance period 2025–27. GreenChain agri credits eligible as CCTS offset mechanism for non-obligated sectors.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481328"/>
            <a:ext cx="2651760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81328"/>
            <a:ext cx="64008" cy="14813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Agri Methodologies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883664"/>
            <a:ext cx="150876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883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Mar 2025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1945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Power approved soil carbon + agri efficiency methods. GreenChain STCC/LTCC credits can register on India's official carbon market alongside Verra VCS and Gold Standard.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481328"/>
            <a:ext cx="2651760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481328"/>
            <a:ext cx="64008" cy="14813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BRSR 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883664"/>
            <a:ext cx="150876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8836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FY2025-26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21945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250 listed companies must disclose ESG including value chain. Extends to top 500 in FY2026-27. Creates mandatory captive buyer market for GreenChain's ESG engine.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090672"/>
            <a:ext cx="2651760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090672"/>
            <a:ext cx="64008" cy="1481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ESG Debt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493008"/>
            <a:ext cx="15087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93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8039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third-party review for green bonds. GreenChain LTCC credits can be structured as green credit instruments eligible for institutional sustainability bond proceeds.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3090672"/>
            <a:ext cx="2651760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3090672"/>
            <a:ext cx="64008" cy="1481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CBAM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3493008"/>
            <a:ext cx="15087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493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38039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exporters to EU must account for embedded carbon. Creates new buyer segment: Indian steel, cement, textile, aluminium companies with EU exposure seeking domestic offsets.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3090672"/>
            <a:ext cx="2651760" cy="14813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3090672"/>
            <a:ext cx="64008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3493008"/>
            <a:ext cx="15087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493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Comply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38039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hash, GPS coordinates, UPI IDs are personal data. Explicit consent, data localisation on Indian servers, and deletion rights are non-negotiable from Day 1.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&amp; Opportunity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GreenChain operates across 7 markets simultaneously — each adds independent revenue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321040" cy="530352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81328"/>
            <a:ext cx="64008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Voluntary Carbon Credit Market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01568" y="148132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122.7 Mn (2023)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14813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USD 1,158.6 Mn by 2030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1572768"/>
            <a:ext cx="89611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57276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048256"/>
            <a:ext cx="8321040" cy="530352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048256"/>
            <a:ext cx="64008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4825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Carbon Credit Market (Overall)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04825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33,685 Mn (2025)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204825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USD 4,05,472 Mn by 2034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2139696"/>
            <a:ext cx="89611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139696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31.84%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615184"/>
            <a:ext cx="8321040" cy="530352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615184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1518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Voluntary Agri Carbon Credit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261518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36.1 Mn (2024)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6151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USD 648.3 Mn by 2034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2706624"/>
            <a:ext cx="8961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2706624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182112"/>
            <a:ext cx="8321040" cy="530352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182112"/>
            <a:ext cx="6400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8211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Carbon Credit Trading Platforms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01568" y="318211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 Mn (2024)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31821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USD 26 Mn by 2030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3273552"/>
            <a:ext cx="8961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27355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3749040"/>
            <a:ext cx="8321040" cy="530352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74904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7490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Agriculture Market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01568" y="37490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457 Bn (2024)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37490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USD 737 Bn by 2034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3840480"/>
            <a:ext cx="89611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384048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4315968"/>
            <a:ext cx="8321040" cy="530352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315968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31596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Carbon Credit Market (All)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01568" y="431596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933 Bn (2025)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43159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USD 16,379 Bn by 2034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72400" y="4407408"/>
            <a:ext cx="89611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440740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37.68%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" y="4901184"/>
            <a:ext cx="8321040" cy="18288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90118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India's carbon platform market is only USD 6 Mn today — GreenChain enters before incumbents form, after regulation is clear. Textbook optimal entry timing.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combines all layers — GreenChain's FRPS-gated ecosystem is the moat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2618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19072" y="1481328"/>
            <a:ext cx="8869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4813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MRV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481328"/>
            <a:ext cx="8869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813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Produce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84448" y="1481328"/>
            <a:ext cx="8869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4813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Engine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17136" y="1481328"/>
            <a:ext cx="8869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4813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9824" y="1481328"/>
            <a:ext cx="8869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148132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Native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82512" y="1481328"/>
            <a:ext cx="262432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48132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Gap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773936"/>
            <a:ext cx="1261872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1773936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Boomitra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19072" y="1773936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177393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MRV only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1773936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177393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84448" y="1773936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1024" y="177393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17136" y="1773936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177393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49824" y="1773936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77393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82512" y="1773936"/>
            <a:ext cx="262432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1773936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marketplace, ESG, contracts, produce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2121408"/>
            <a:ext cx="1261872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" y="21214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AgroStar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19072" y="2121408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212140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51760" y="2121408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212140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Inputs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84448" y="2121408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212140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17136" y="2121408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212140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49824" y="2121408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212140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82512" y="2121408"/>
            <a:ext cx="262432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212140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carbon, no ESG, no contracts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2468880"/>
            <a:ext cx="1261872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" y="246888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DeHaat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719072" y="2468880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55648" y="246888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651760" y="2468880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88336" y="246888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Advisory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4448" y="2468880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21024" y="246888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17136" y="2468880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53712" y="246888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49824" y="2468880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246888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82512" y="2468880"/>
            <a:ext cx="262432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19088" y="246888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carbon or ESG layer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2816352"/>
            <a:ext cx="1261872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8056" y="281635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Ninjacart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719072" y="2816352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55648" y="28163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651760" y="2816352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88336" y="28163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B2B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584448" y="2816352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21024" y="28163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17136" y="2816352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53712" y="28163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49824" y="2816352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0" y="28163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382512" y="2816352"/>
            <a:ext cx="262432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19088" y="281635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carbon, no farmer-first model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11480" y="3163824"/>
            <a:ext cx="1261872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8056" y="3163824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 Energy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719072" y="3163824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55648" y="31638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Trading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651760" y="3163824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88336" y="31638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584448" y="3163824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21024" y="31638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17136" y="3163824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53712" y="31638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449824" y="3163824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0" y="31638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382512" y="3163824"/>
            <a:ext cx="262432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19088" y="3163824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focus only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11480" y="3511296"/>
            <a:ext cx="1261872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8056" y="3511296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CarbonMint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719072" y="3511296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755648" y="351129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651760" y="3511296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88336" y="351129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584448" y="3511296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21024" y="351129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517136" y="3511296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53712" y="351129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449824" y="3511296"/>
            <a:ext cx="88696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86400" y="351129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382512" y="3511296"/>
            <a:ext cx="2624328" cy="320040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19088" y="3511296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only, no agri or contracts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11480" y="3858768"/>
            <a:ext cx="1261872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48056" y="385876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Farmonaut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719072" y="3858768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55648" y="385876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651760" y="3858768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688336" y="385876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584448" y="3858768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21024" y="385876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517136" y="3858768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53712" y="385876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449824" y="3858768"/>
            <a:ext cx="88696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86400" y="385876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858768"/>
            <a:ext cx="2624328" cy="320040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419088" y="385876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SaaS — no marketplace or credits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11480" y="4206240"/>
            <a:ext cx="1261872" cy="32004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8056" y="420624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719072" y="4206240"/>
            <a:ext cx="886968" cy="32004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755648" y="420624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STCC+LTCC+TPC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2651760" y="4206240"/>
            <a:ext cx="886968" cy="32004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88336" y="420624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+ EcoTrust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3584448" y="4206240"/>
            <a:ext cx="886968" cy="32004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621024" y="420624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BRSR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4517136" y="4206240"/>
            <a:ext cx="886968" cy="32004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553712" y="420624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Hiring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5449824" y="4206240"/>
            <a:ext cx="886968" cy="32004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486400" y="420624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INR-first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6382512" y="4206240"/>
            <a:ext cx="2624328" cy="32004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419088" y="420624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platform combining all layers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10972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9144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" y="2907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365760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657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256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SCORECARD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621792"/>
            <a:ext cx="6035040" cy="5669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6217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777240"/>
            <a:ext cx="3200400" cy="2560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777240"/>
            <a:ext cx="28803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6217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96926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tech mature, free prototype, no experimental dependencies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97480" y="1261872"/>
            <a:ext cx="6035040" cy="5669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1261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1417320"/>
            <a:ext cx="3200400" cy="2560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417320"/>
            <a:ext cx="28803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126187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16093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 CAGR, BRSR Core mandatory demand, CCTS operational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97480" y="1901952"/>
            <a:ext cx="6035040" cy="5669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88920" y="19019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51960" y="2057400"/>
            <a:ext cx="3200400" cy="2560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057400"/>
            <a:ext cx="25603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90195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88920" y="224942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prototype, break-even at 12K farmers, multi-stream revenue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97480" y="2542032"/>
            <a:ext cx="6035040" cy="5669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88920" y="25420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51960" y="2697480"/>
            <a:ext cx="3200400" cy="2560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2697480"/>
            <a:ext cx="32004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2542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88920" y="288950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PM-PRANAM aligned, 125M smallholders need income diversification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97480" y="3182112"/>
            <a:ext cx="6035040" cy="5669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88920" y="31821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51960" y="3337560"/>
            <a:ext cx="3200400" cy="2560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3337560"/>
            <a:ext cx="25603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318211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88920" y="352958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competitor — FRPS ecosystem is the moat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97480" y="3822192"/>
            <a:ext cx="6035040" cy="5669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88920" y="38221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51960" y="3977640"/>
            <a:ext cx="3200400" cy="2560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3977640"/>
            <a:ext cx="22402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43800" y="382219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788920" y="416966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CCTS + 8 methods positive; DPDP + blockchain clarity pending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697480" y="4462272"/>
            <a:ext cx="6035040" cy="566928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788920" y="44622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51960" y="4617720"/>
            <a:ext cx="3200400" cy="25603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51960" y="4617720"/>
            <a:ext cx="22402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43800" y="446227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788920" y="4809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bottleneck manageable; offline-first mitigates connectivity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697480" y="5029200"/>
            <a:ext cx="6035040" cy="0"/>
          </a:xfrm>
          <a:prstGeom prst="rect">
            <a:avLst/>
          </a:prstGeom>
          <a:solidFill>
            <a:srgbClr val="1A3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Roadmap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Phase 1 funds every subsequent horizontal expansion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011680" cy="342900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201168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Core · Month 0–6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9019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onboarding + Aadhaar hash KYC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22860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plot geo-polygon registration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pipeline (GEE + IPCC Tier-2)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305409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+ LTCC credit issuance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34381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ESG purchase flow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38221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verification 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420624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 log hash chain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45902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settlement via Razorpay + UPI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1463040"/>
            <a:ext cx="2011680" cy="342900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0" y="1463040"/>
            <a:ext cx="20116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· Month 7–9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33472" y="19019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Agri-produce marketplace launch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33472" y="22860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EcoTrust behavioral nudge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33472" y="26700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layer (CSR funding)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3472" y="305409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 tier unlock for produce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33472" y="34381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→ MRV ground truth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33472" y="38221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discovery + order management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1463040"/>
            <a:ext cx="2011680" cy="342900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463040"/>
            <a:ext cx="201168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· Month 10–15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82312" y="19019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farming marketplace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82312" y="22860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market engine (INR + FX)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82312" y="26700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radius contractor search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82312" y="305409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mainnet credit minting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82312" y="34381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conversion + INR guarantee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82312" y="38221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corporate buyers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1463040"/>
            <a:ext cx="2011680" cy="342900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1463040"/>
            <a:ext cx="20116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 · Month 18+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31152" y="190195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ads &amp; services layer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31152" y="22860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expansion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31152" y="26700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 → rural credit score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31152" y="305409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LTCC green bond structuring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31152" y="343814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data product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31152" y="382219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6 international credits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1–5 · Break-even at 12,000 farmers · ₹9–11 Cr net at Year 5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389888"/>
          <a:ext cx="53492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389888"/>
            <a:ext cx="2743200" cy="694944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444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89320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2743200" cy="694944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2203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Cr+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89320" y="2551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surplus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320" y="2907792"/>
            <a:ext cx="2743200" cy="694944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2962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₹18,000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989320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/ year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89320" y="3666744"/>
            <a:ext cx="2743200" cy="694944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89320" y="3721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₹9–11 Cr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98932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4023360"/>
            <a:ext cx="8321040" cy="530352"/>
          </a:xfrm>
          <a:prstGeom prst="rect">
            <a:avLst/>
          </a:prstGeom>
          <a:solidFill>
            <a:srgbClr val="1A352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0507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at 25K farmers: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STCC credits/farmer/year × ₹1,300 avg price × 8% avg commission = ₹520 platform revenue per farmer per year from carbon alone.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LTCC premium (2–3× STCC price), produce commissions (3–6%), contract farming fees → total ₹1,000–1,500 per farmer per year at steady state.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Mitigation Matrix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risks assessed · Pre-planned mitigations for each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321040" cy="402336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81328"/>
            <a:ext cx="64008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verification bottleneck at scale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6432" y="1563624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5636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563624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5636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148132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Satellite-first for standard plots. AI pre-screening −60% NGO workload. Physical NGO only for disputes and LTCC.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920240"/>
            <a:ext cx="8321040" cy="402336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920240"/>
            <a:ext cx="6400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20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 gaming — fake geo-proof uploads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56432" y="2002536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0025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0" y="2002536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0025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validates EXIF + GPS. Duplicate plot polygon detection (SHA-256 hash). Random spot-checks on high-FRPS farmers.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359152"/>
            <a:ext cx="8321040" cy="402336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359152"/>
            <a:ext cx="6400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59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methodology change (CCTS/Verra)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56432" y="2441448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4414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0" y="2441448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4414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2359152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Methodology-agnostic MRV engine. methodology_version stored on every calc. Multi-method support in schema from Day 1.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2798064"/>
            <a:ext cx="8321040" cy="402336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798064"/>
            <a:ext cx="6400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79806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cash-flow preference over LTCC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56432" y="2880360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432" y="28803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0" y="2880360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8803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2798064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STCC always settled immediately. LTCC strictly opt-in + advance partial payment. FRPS +15 bonus for LTCC enrollment.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236976"/>
            <a:ext cx="8321040" cy="402336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236976"/>
            <a:ext cx="6400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2369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cloud cover degrading NDVI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56432" y="3319272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33192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3319272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3192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323697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Multi-source: Sentinel-2 + Landsat-9 + Bhuvan. Temporal interpolation. ndvi_confidence_score never issued on mock data.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3675888"/>
            <a:ext cx="8321040" cy="402336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3675888"/>
            <a:ext cx="64008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6758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non-compliance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56432" y="3758184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56432" y="37581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0" y="3758184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37581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367588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SHA-256 only. Explicit consent at onboarding. Data localisation on Indian servers. Deletion workflow built in schema.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" y="4114800"/>
            <a:ext cx="8321040" cy="402336"/>
          </a:xfrm>
          <a:prstGeom prst="rect">
            <a:avLst/>
          </a:prstGeom>
          <a:solidFill>
            <a:srgbClr val="162B1E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" y="4114800"/>
            <a:ext cx="64008" cy="402336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1148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failure (Razorpay)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56432" y="4197096"/>
            <a:ext cx="59436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56432" y="419709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0" y="4197096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0" y="419709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00600" y="411480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 / Cashfree failover in production. Escrow amounts in Redis retry queue — never lost on gateway failure.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553712"/>
            <a:ext cx="8321040" cy="402336"/>
          </a:xfrm>
          <a:prstGeom prst="rect">
            <a:avLst/>
          </a:prstGeom>
          <a:solidFill>
            <a:srgbClr val="0D1F15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4553712"/>
            <a:ext cx="64008" cy="402336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5537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incumbents pivot to carbon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456432" y="4636008"/>
            <a:ext cx="59436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56432" y="46360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0" y="4636008"/>
            <a:ext cx="59436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0" y="46360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00600" y="4553712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FRPS-gated integrated ecosystem cannot be replicated quickly. Establish carbon credibility before any pivot can gain traction.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Phase-wise infrastructure — zero re-architecture required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011680" cy="347472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201168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82880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farmers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&lt;50K credits/yr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331720"/>
            <a:ext cx="1865376" cy="3657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423160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Redis Cluster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663440"/>
            <a:ext cx="201168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/ month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463040"/>
            <a:ext cx="2011680" cy="347472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463040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3472" y="182880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farmers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&lt;5L credits/yr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33472" y="2331720"/>
            <a:ext cx="1865376" cy="3657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423160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 Read Replica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MongoDB Atlas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Docker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4663440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₹8–15K / month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2011680" cy="347472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463040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182880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farmers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&gt;5L credits/yr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82312" y="2331720"/>
            <a:ext cx="1865376" cy="3657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423160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PgBouncer pool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TimescaleDB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workers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4663440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₹50–80K / month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1463040"/>
            <a:ext cx="2011680" cy="347472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1463040"/>
            <a:ext cx="20116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31152" y="182880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farmers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records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31152" y="2331720"/>
            <a:ext cx="1865376" cy="3657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2423160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Citus / Aurora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on farmer_id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0" y="4663440"/>
            <a:ext cx="20116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₹2–5L / month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PROSPECTS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Prospects &amp; Expansion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· Medium-term · Long-term strategic horizons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724912" cy="327355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272491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CCTS offset mechanism operationalised for agri credits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value chain Scope 3 mandatory from FY2026-27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054096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CBAM full enforcement → Indian exporter buyer segment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India-Singapore / India-UAE Article 6 pilot agreements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18795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GreenChain LTCC structured as SEBI ESG green credit instrument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73552" y="1481328"/>
            <a:ext cx="2724912" cy="327355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481328"/>
            <a:ext cx="272491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48132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92024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 score → formal rural credit score via NABARD / SFBs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expansion: Bangladesh, Vietnam, Sri Lanka, Indonesia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3054096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 AIKOSH integration for AI-powered MRV precision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36210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carbon futures on LTCC credits (advance farmer payment)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64992" y="418795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supply chain data product for FMCG companies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35624" y="1481328"/>
            <a:ext cx="2724912" cy="3273552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35624" y="1481328"/>
            <a:ext cx="2724912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148132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27064" y="1920240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carbon infrastructure — CCTS official agri registry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27064" y="2487168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expansion (500M smallholder farms globally)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7064" y="3054096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FRPS-linked health insurance + crop insurance bundling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36210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green bond financing via NABARD partnership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27064" y="418795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GreenChain as critical national rural climate infrastructure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864608"/>
            <a:ext cx="8321040" cy="182880"/>
          </a:xfrm>
          <a:prstGeom prst="rect">
            <a:avLst/>
          </a:prstGeom>
          <a:solidFill>
            <a:srgbClr val="1A352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86460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1M+ farmers, GreenChain transitions from a climate-fintech startup to critical national rural infrastructure — the backbone of India's agri carbon economy.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Recommendations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that determine whether GreenChain wins or misses the first-mover window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321040" cy="6400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475488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1536192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MVP in 6 months, not 12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87552" y="1819656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CCTS compliance period started. BRSR Core is mandatory this financial year. Corporate buyers seek verified credits NOW. Every month of delay surrenders first-mover advantage.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8321040" cy="6400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76272"/>
            <a:ext cx="47548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762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2231136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3 NGO partnerships before writing production 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87552" y="2514600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verification is the operational bottleneck AND the credibility foundation. Without NGOs, no COP-compliant offsets. Without offsets, zero revenue. NGO partnership must precede code.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871216"/>
            <a:ext cx="8321040" cy="6400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71216"/>
            <a:ext cx="475488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7121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" y="2926080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CCTS offset mechanism registration in parallel with development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7552" y="3209544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Government-registered credits command higher corporate trust and price premium. March 2025 methodology approvals make agri CCTS registration possible immediately.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566160"/>
            <a:ext cx="8321040" cy="6400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566160"/>
            <a:ext cx="47548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6616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7552" y="3621024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DPDP Act 2023 compliance into schema from Day 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7552" y="3904488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GPS, and UPI data require explicit consent, data localisation, and deletion rights. Retrofitting privacy compliance post-launch is 5× more expensive than building it in.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261104"/>
            <a:ext cx="8321040" cy="640080"/>
          </a:xfrm>
          <a:prstGeom prst="rect">
            <a:avLst/>
          </a:prstGeom>
          <a:solidFill>
            <a:srgbClr val="1A3526"/>
          </a:solidFill>
          <a:ln w="9525">
            <a:solidFill>
              <a:srgbClr val="2D5A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261104"/>
            <a:ext cx="47548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261104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7552" y="4315968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5 marquee corporate clients before scaling farmer onboarding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87552" y="4599432"/>
            <a:ext cx="7662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must be proven before supply is built. Locking in Tata Steel, Infosys, or Mahindra creates a reference attracting 50 more. Premature farmer onboarding creates unsold credit inventory.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3526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PRD v1.0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4864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GreenChain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v1.0  ·  March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288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Farmer-First  ·  INR-Native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as Proof Only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31920" y="822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GreenChain is not a startup.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infrastructure.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931920" y="1920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like infrastructure.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it like a startup.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931920" y="2880360"/>
            <a:ext cx="1143000" cy="80467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29077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8.5/10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931920" y="32918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93792" y="2880360"/>
            <a:ext cx="1143000" cy="80467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93792" y="29077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93792" y="32918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55664" y="2880360"/>
            <a:ext cx="1143000" cy="80467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29077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55664" y="32918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717536" y="2880360"/>
            <a:ext cx="1143000" cy="804672"/>
          </a:xfrm>
          <a:prstGeom prst="rect">
            <a:avLst/>
          </a:prstGeom>
          <a:solidFill>
            <a:srgbClr val="1A3526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17536" y="29077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 Cr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17536" y="32918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931920" y="3840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  ·  Agri Marketplace  ·  ESG Engine  ·  Contract Farming  ·  INR Settlement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931920" y="42062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GreenChain  ·  Confidential  ·  Not for Distribution  ·  March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